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45BFD3"/>
                </a:solidFill>
                <a:latin typeface="Calibri"/>
              </a:defRPr>
            </a:pPr>
            <a:r>
              <a:t>MedEase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F2937"/>
                </a:solidFill>
                <a:latin typeface="Calibri"/>
              </a:defRPr>
            </a:pPr>
            <a:r>
              <a:t>AI-Powered Healthcare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520440"/>
            <a:ext cx="2286000" cy="38100"/>
          </a:xfrm>
          <a:prstGeom prst="rect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Transforming complex medical records into clear insights.</a:t>
            </a:r>
            <a:br/>
            <a:r>
              <a:t>Voice-powered AI consultations. Seamless doctor-patient communication.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Built with Google Gemini AI  |  React  |  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097280"/>
            <a:ext cx="4389120" cy="4754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6B7280"/>
                </a:solidFill>
                <a:latin typeface="Calibri"/>
              </a:defRPr>
            </a:pPr>
            <a:r>
              <a:t>[Insert: Login / Welcome screen]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325880"/>
            <a:ext cx="1371600" cy="38100"/>
          </a:xfrm>
          <a:prstGeom prst="rect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938528"/>
            <a:ext cx="164592" cy="164592"/>
          </a:xfrm>
          <a:prstGeom prst="rect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828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Calibri"/>
              </a:defRPr>
            </a:pPr>
            <a:r>
              <a:t>Medical records are unreadable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40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Patients receive dense, jargon-heavy documents they cannot understand. Critical information gets lost in translation.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127248"/>
            <a:ext cx="164592" cy="164592"/>
          </a:xfrm>
          <a:prstGeom prst="rect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017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Calibri"/>
              </a:defRPr>
            </a:pPr>
            <a:r>
              <a:t>Doctor-patient communication is broken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429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Patients forget details between visits. Doctors lack context on how patients are doing day-to-day. Updates fall through the cracks.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315968"/>
            <a:ext cx="164592" cy="164592"/>
          </a:xfrm>
          <a:prstGeom prst="rect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Calibri"/>
              </a:defRPr>
            </a:pPr>
            <a:r>
              <a:t>Medication safety is manual and error-prone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617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Drug interactions, duplicate therapies, and dosage issues are caught too late -- or not at all -- especially with multiple providers.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5504688"/>
            <a:ext cx="164592" cy="164592"/>
          </a:xfrm>
          <a:prstGeom prst="rect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53949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Calibri"/>
              </a:defRPr>
            </a:pPr>
            <a:r>
              <a:t>Access to care is limited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806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Scheduling is rigid. Patients wait days for basic triage. There is no quick way to get preliminary guidance.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  <a:latin typeface="Calibri"/>
              </a:defRPr>
            </a:pPr>
            <a:r>
              <a:t>One Platform, Three Portals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325880"/>
            <a:ext cx="1371600" cy="38100"/>
          </a:xfrm>
          <a:prstGeom prst="rect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Role-based access for every stakeholder in the care journey.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3291840" cy="384048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5BFD3"/>
                </a:solidFill>
                <a:latin typeface="Calibri"/>
              </a:defRPr>
            </a:pPr>
            <a:r>
              <a:t>Patient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063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Upload and summarize medical records</a:t>
            </a:r>
          </a:p>
        </p:txBody>
      </p:sp>
      <p:sp>
        <p:nvSpPr>
          <p:cNvPr id="9" name="Oval 8"/>
          <p:cNvSpPr/>
          <p:nvPr/>
        </p:nvSpPr>
        <p:spPr>
          <a:xfrm>
            <a:off x="1234440" y="3136392"/>
            <a:ext cx="91440" cy="91440"/>
          </a:xfrm>
          <a:prstGeom prst="ellipse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3474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AI chat for health questions</a:t>
            </a:r>
          </a:p>
        </p:txBody>
      </p:sp>
      <p:sp>
        <p:nvSpPr>
          <p:cNvPr id="11" name="Oval 10"/>
          <p:cNvSpPr/>
          <p:nvPr/>
        </p:nvSpPr>
        <p:spPr>
          <a:xfrm>
            <a:off x="1234440" y="3547872"/>
            <a:ext cx="91440" cy="91440"/>
          </a:xfrm>
          <a:prstGeom prst="ellipse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886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Voice consultation with Dr. MedAssist</a:t>
            </a:r>
          </a:p>
        </p:txBody>
      </p:sp>
      <p:sp>
        <p:nvSpPr>
          <p:cNvPr id="13" name="Oval 12"/>
          <p:cNvSpPr/>
          <p:nvPr/>
        </p:nvSpPr>
        <p:spPr>
          <a:xfrm>
            <a:off x="1234440" y="3959352"/>
            <a:ext cx="91440" cy="91440"/>
          </a:xfrm>
          <a:prstGeom prst="ellipse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42976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Record and send health updates</a:t>
            </a:r>
          </a:p>
        </p:txBody>
      </p:sp>
      <p:sp>
        <p:nvSpPr>
          <p:cNvPr id="15" name="Oval 14"/>
          <p:cNvSpPr/>
          <p:nvPr/>
        </p:nvSpPr>
        <p:spPr>
          <a:xfrm>
            <a:off x="1234440" y="4370832"/>
            <a:ext cx="91440" cy="91440"/>
          </a:xfrm>
          <a:prstGeom prst="ellipse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4709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Book appointments by specialty</a:t>
            </a:r>
          </a:p>
        </p:txBody>
      </p:sp>
      <p:sp>
        <p:nvSpPr>
          <p:cNvPr id="17" name="Oval 16"/>
          <p:cNvSpPr/>
          <p:nvPr/>
        </p:nvSpPr>
        <p:spPr>
          <a:xfrm>
            <a:off x="1234440" y="4782312"/>
            <a:ext cx="91440" cy="91440"/>
          </a:xfrm>
          <a:prstGeom prst="ellipse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80560" y="2286000"/>
            <a:ext cx="3291840" cy="384048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5BFD3"/>
                </a:solidFill>
                <a:latin typeface="Calibri"/>
              </a:defRPr>
            </a:pPr>
            <a:r>
              <a:t>Doctor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3063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Live feed of patient updates</a:t>
            </a:r>
          </a:p>
        </p:txBody>
      </p:sp>
      <p:sp>
        <p:nvSpPr>
          <p:cNvPr id="21" name="Oval 20"/>
          <p:cNvSpPr/>
          <p:nvPr/>
        </p:nvSpPr>
        <p:spPr>
          <a:xfrm>
            <a:off x="4800600" y="3136392"/>
            <a:ext cx="91440" cy="91440"/>
          </a:xfrm>
          <a:prstGeom prst="ellipse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3474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AI-summarized consultation notes</a:t>
            </a:r>
          </a:p>
        </p:txBody>
      </p:sp>
      <p:sp>
        <p:nvSpPr>
          <p:cNvPr id="23" name="Oval 22"/>
          <p:cNvSpPr/>
          <p:nvPr/>
        </p:nvSpPr>
        <p:spPr>
          <a:xfrm>
            <a:off x="4800600" y="3547872"/>
            <a:ext cx="91440" cy="91440"/>
          </a:xfrm>
          <a:prstGeom prst="ellipse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3886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Reply to patients with guidance</a:t>
            </a:r>
          </a:p>
        </p:txBody>
      </p:sp>
      <p:sp>
        <p:nvSpPr>
          <p:cNvPr id="25" name="Oval 24"/>
          <p:cNvSpPr/>
          <p:nvPr/>
        </p:nvSpPr>
        <p:spPr>
          <a:xfrm>
            <a:off x="4800600" y="3959352"/>
            <a:ext cx="91440" cy="91440"/>
          </a:xfrm>
          <a:prstGeom prst="ellipse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42976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Calendar and appointment management</a:t>
            </a:r>
          </a:p>
        </p:txBody>
      </p:sp>
      <p:sp>
        <p:nvSpPr>
          <p:cNvPr id="27" name="Oval 26"/>
          <p:cNvSpPr/>
          <p:nvPr/>
        </p:nvSpPr>
        <p:spPr>
          <a:xfrm>
            <a:off x="4800600" y="4370832"/>
            <a:ext cx="91440" cy="91440"/>
          </a:xfrm>
          <a:prstGeom prst="ellipse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4709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Configurable consultation templates</a:t>
            </a:r>
          </a:p>
        </p:txBody>
      </p:sp>
      <p:sp>
        <p:nvSpPr>
          <p:cNvPr id="29" name="Oval 28"/>
          <p:cNvSpPr/>
          <p:nvPr/>
        </p:nvSpPr>
        <p:spPr>
          <a:xfrm>
            <a:off x="4800600" y="4782312"/>
            <a:ext cx="91440" cy="91440"/>
          </a:xfrm>
          <a:prstGeom prst="ellipse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20" y="2286000"/>
            <a:ext cx="3291840" cy="384048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5BFD3"/>
                </a:solidFill>
                <a:latin typeface="Calibri"/>
              </a:defRPr>
            </a:pPr>
            <a:r>
              <a:t>Clinic Admin Portal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3063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Register and manage patients</a:t>
            </a:r>
          </a:p>
        </p:txBody>
      </p:sp>
      <p:sp>
        <p:nvSpPr>
          <p:cNvPr id="33" name="Oval 32"/>
          <p:cNvSpPr/>
          <p:nvPr/>
        </p:nvSpPr>
        <p:spPr>
          <a:xfrm>
            <a:off x="8366760" y="3136392"/>
            <a:ext cx="91440" cy="91440"/>
          </a:xfrm>
          <a:prstGeom prst="ellipse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3474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Onboard doctors with specialties</a:t>
            </a:r>
          </a:p>
        </p:txBody>
      </p:sp>
      <p:sp>
        <p:nvSpPr>
          <p:cNvPr id="35" name="Oval 34"/>
          <p:cNvSpPr/>
          <p:nvPr/>
        </p:nvSpPr>
        <p:spPr>
          <a:xfrm>
            <a:off x="8366760" y="3547872"/>
            <a:ext cx="91440" cy="91440"/>
          </a:xfrm>
          <a:prstGeom prst="ellipse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40" y="3886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Manage availability and schedules</a:t>
            </a:r>
          </a:p>
        </p:txBody>
      </p:sp>
      <p:sp>
        <p:nvSpPr>
          <p:cNvPr id="37" name="Oval 36"/>
          <p:cNvSpPr/>
          <p:nvPr/>
        </p:nvSpPr>
        <p:spPr>
          <a:xfrm>
            <a:off x="8366760" y="3959352"/>
            <a:ext cx="91440" cy="91440"/>
          </a:xfrm>
          <a:prstGeom prst="ellipse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9640" y="42976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Insurance provider configuration</a:t>
            </a:r>
          </a:p>
        </p:txBody>
      </p:sp>
      <p:sp>
        <p:nvSpPr>
          <p:cNvPr id="39" name="Oval 38"/>
          <p:cNvSpPr/>
          <p:nvPr/>
        </p:nvSpPr>
        <p:spPr>
          <a:xfrm>
            <a:off x="8366760" y="4370832"/>
            <a:ext cx="91440" cy="91440"/>
          </a:xfrm>
          <a:prstGeom prst="ellipse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  <a:latin typeface="Calibri"/>
              </a:defRPr>
            </a:pPr>
            <a:r>
              <a:t>Patient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325880"/>
            <a:ext cx="1371600" cy="38100"/>
          </a:xfrm>
          <a:prstGeom prst="rect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Calibri"/>
              </a:defRPr>
            </a:pPr>
            <a:r>
              <a:t>Upload and Understand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Patients upload medical documents (PDF, PNG, JPG) and receive plain-English summaries powered by Google Gemini. Medications are automatically extracted and checked for interactions.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566160"/>
            <a:ext cx="4846320" cy="2743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6B7280"/>
                </a:solidFill>
                <a:latin typeface="Calibri"/>
              </a:defRPr>
            </a:pPr>
            <a:r>
              <a:t>[Insert: Upload Document screenshot]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Calibri"/>
              </a:defRPr>
            </a:pPr>
            <a:r>
              <a:t>Voice Consultation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774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Dr. MedAssist conducts a structured voice interview. Patient information is captured live into Doctor's Notes. Summaries are saved to the database and visible to the assigned doctor.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566160"/>
            <a:ext cx="4846320" cy="2743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6B7280"/>
                </a:solidFill>
                <a:latin typeface="Calibri"/>
              </a:defRPr>
            </a:pPr>
            <a:r>
              <a:t>[Insert: Live Consult screenshot]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  <a:latin typeface="Calibri"/>
              </a:defRPr>
            </a:pPr>
            <a:r>
              <a:t>Doctor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325880"/>
            <a:ext cx="1371600" cy="38100"/>
          </a:xfrm>
          <a:prstGeom prst="rect">
            <a:avLst/>
          </a:prstGeom>
          <a:solidFill>
            <a:srgbClr val="45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Calibri"/>
              </a:defRPr>
            </a:pPr>
            <a:r>
              <a:t>Real-Time Patient Feed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Doctors see today's completed voice consultations and patient health updates in a unified feed. Each update includes AI-generated summaries, voice recordings, and extracted patient questions.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566160"/>
            <a:ext cx="4846320" cy="2743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6B7280"/>
                </a:solidFill>
                <a:latin typeface="Calibri"/>
              </a:defRPr>
            </a:pPr>
            <a:r>
              <a:t>[Insert: Doctor Feed screenshot]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Calibri"/>
              </a:defRPr>
            </a:pPr>
            <a:r>
              <a:t>Respond and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774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Doctors drill into any update to see the full context: voice recording, AI summary, and patient questions. They respond directly, closing the communication loop without phone calls or portal messages.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566160"/>
            <a:ext cx="4846320" cy="2743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6B7280"/>
                </a:solidFill>
                <a:latin typeface="Calibri"/>
              </a:defRPr>
            </a:pPr>
            <a:r>
              <a:t>[Insert: Doctor Reply screenshot]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